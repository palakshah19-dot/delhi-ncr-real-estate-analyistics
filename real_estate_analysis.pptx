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(₹ crore)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Lbls>
            <c:numFmt formatCode="&quot;₹&quot;0.00&quot; Cr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300" b="0" i="0" u="none" strike="noStrike" kern="1200" baseline="0">
                    <a:solidFill>
                      <a:srgbClr val="2B2B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Ready to move</c:v>
                </c:pt>
                <c:pt idx="1">
                  <c:v>Under construction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4.15</c:v>
                </c:pt>
                <c:pt idx="1">
                  <c:v>3.96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6E71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bee08e-a9e9-4b7a-a75e-8a13b44b4987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(₹ crore)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2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numFmt formatCode="&quot;₹&quot;0.00&quot; Cr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300" b="0" i="0" u="none" strike="noStrike" kern="1200" baseline="0">
                    <a:solidFill>
                      <a:srgbClr val="2B2B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RERA-approved</c:v>
                </c:pt>
                <c:pt idx="1">
                  <c:v>Not RERA-approved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3.86</c:v>
                </c:pt>
                <c:pt idx="1">
                  <c:v>4.08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6E71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81e73ed-dfee-4e1d-af46-2698ea0ada0a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B2B33"/>
                </a:solidFill>
                <a:latin typeface="Arial" panose="020B0604020202020204"/>
              </a:rPr>
              <a:t>Average price by area (sq.ft.)</a:t>
            </a:r>
            <a:endParaRPr sz="1300" b="0" i="0" u="none" strike="noStrike">
              <a:solidFill>
                <a:srgbClr val="2B2B33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price (₹ crore)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2B2B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&lt;1000</c:v>
                </c:pt>
                <c:pt idx="1">
                  <c:v>1000-1500</c:v>
                </c:pt>
                <c:pt idx="2">
                  <c:v>1500-2000</c:v>
                </c:pt>
                <c:pt idx="3">
                  <c:v>2000-3000</c:v>
                </c:pt>
                <c:pt idx="4">
                  <c:v>3000-5000</c:v>
                </c:pt>
                <c:pt idx="5">
                  <c:v>5000+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0.65</c:v>
                </c:pt>
                <c:pt idx="1">
                  <c:v>1.81</c:v>
                </c:pt>
                <c:pt idx="2">
                  <c:v>2.65</c:v>
                </c:pt>
                <c:pt idx="3">
                  <c:v>3.9</c:v>
                </c:pt>
                <c:pt idx="4">
                  <c:v>6.19</c:v>
                </c:pt>
                <c:pt idx="5">
                  <c:v>14.57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5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rgbClr val="6E71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5480a09-02be-4d64-acd3-b538120bce79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B2B33"/>
                </a:solidFill>
                <a:latin typeface="Arial" panose="020B0604020202020204"/>
              </a:rPr>
              <a:t>Average rate/sq.ft. by area</a:t>
            </a:r>
            <a:endParaRPr sz="1300" b="0" i="0" u="none" strike="noStrike">
              <a:solidFill>
                <a:srgbClr val="2B2B33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rate (₹/sq.ft.)</c:v>
                </c:pt>
              </c:strCache>
            </c:strRef>
          </c:tx>
          <c:spPr>
            <a:ln w="38100" cap="flat" cmpd="sng" algn="ctr">
              <a:solidFill>
                <a:srgbClr val="C9A2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24B"/>
              </a:solidFill>
              <a:ln w="9525" cap="flat" cmpd="sng" algn="ctr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2B2B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&lt;1000</c:v>
                </c:pt>
                <c:pt idx="1">
                  <c:v>1000-1500</c:v>
                </c:pt>
                <c:pt idx="2">
                  <c:v>1500-2000</c:v>
                </c:pt>
                <c:pt idx="3">
                  <c:v>2000-3000</c:v>
                </c:pt>
                <c:pt idx="4">
                  <c:v>3000-5000</c:v>
                </c:pt>
                <c:pt idx="5">
                  <c:v>5000+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11446</c:v>
                </c:pt>
                <c:pt idx="1">
                  <c:v>13941</c:v>
                </c:pt>
                <c:pt idx="2">
                  <c:v>15153</c:v>
                </c:pt>
                <c:pt idx="3">
                  <c:v>16117</c:v>
                </c:pt>
                <c:pt idx="4">
                  <c:v>16285</c:v>
                </c:pt>
                <c:pt idx="5">
                  <c:v>19320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5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rgbClr val="6E71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34353c-f0d7-4cbd-9c9d-1862de2d0dd9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187416331995"/>
          <c:y val="0.0612305854241338"/>
          <c:w val="0.831425702811245"/>
          <c:h val="0.8952210274790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rate (₹/sq.ft.)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&quot;₹&quot;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B2B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Camelliaass</c:v>
                </c:pt>
                <c:pt idx="1">
                  <c:v>Cameliaas</c:v>
                </c:pt>
                <c:pt idx="2">
                  <c:v>Tulip</c:v>
                </c:pt>
                <c:pt idx="3">
                  <c:v>Prom</c:v>
                </c:pt>
                <c:pt idx="4">
                  <c:v>Magnoliaass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44724</c:v>
                </c:pt>
                <c:pt idx="1">
                  <c:v>40000</c:v>
                </c:pt>
                <c:pt idx="2">
                  <c:v>28571</c:v>
                </c:pt>
                <c:pt idx="3">
                  <c:v>27359</c:v>
                </c:pt>
                <c:pt idx="4">
                  <c:v>26666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2B2B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rgbClr val="6E71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6be8d86-75cd-469c-8fef-03da7c8c0eac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578"/>
          </a:solidFill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63578"/>
          </a:solidFill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 Estate Market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listing data reveals about price, location, and property type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14,223 property listings   •   245 localities   •   NCR region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Listings to Clean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pipeline turned messy scraped listings into an analysis-ready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 columns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75688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names lower-cased, trimmed, and spaced with underscores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127248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duplicate listings dropped, twice — before and after type cleanup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numeric fields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178808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Price, area, and rate/sq.ft. stripped of commas and cast to numbers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417320" y="489204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 categories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230368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Status, RERA approval, and flat type lower-cased and trimmed for grouping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78308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011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51460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19,515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138160" y="30175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rows scraped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3832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14,223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138160" y="38862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rows analyzed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425196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138160" y="47548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localities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5120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138160" y="56235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data fields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COSTLIEST LISTING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73152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₹122.63 crore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6 BHK apartment in DLF Camellias, Sector 42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263578"/>
          </a:solidFill>
        </p:spPr>
      </p:sp>
      <p:sp>
        <p:nvSpPr>
          <p:cNvPr id="6" name="Text 4"/>
          <p:cNvSpPr/>
          <p:nvPr/>
        </p:nvSpPr>
        <p:spPr>
          <a:xfrm>
            <a:off x="987552" y="3346704"/>
            <a:ext cx="2276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3657600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DLF Camellias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263578"/>
          </a:solidFill>
        </p:spPr>
      </p:sp>
      <p:sp>
        <p:nvSpPr>
          <p:cNvPr id="9" name="Text 7"/>
          <p:cNvSpPr/>
          <p:nvPr/>
        </p:nvSpPr>
        <p:spPr>
          <a:xfrm>
            <a:off x="3822192" y="3346704"/>
            <a:ext cx="2276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22192" y="3657600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Provident Capital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9224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263578"/>
          </a:solidFill>
        </p:spPr>
      </p:sp>
      <p:sp>
        <p:nvSpPr>
          <p:cNvPr id="12" name="Text 10"/>
          <p:cNvSpPr/>
          <p:nvPr/>
        </p:nvSpPr>
        <p:spPr>
          <a:xfrm>
            <a:off x="6656832" y="3346704"/>
            <a:ext cx="2276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56832" y="3657600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16,500 sq.ft.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32688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263578"/>
          </a:solidFill>
        </p:spPr>
      </p:sp>
      <p:sp>
        <p:nvSpPr>
          <p:cNvPr id="15" name="Text 13"/>
          <p:cNvSpPr/>
          <p:nvPr/>
        </p:nvSpPr>
        <p:spPr>
          <a:xfrm>
            <a:off x="9491472" y="3346704"/>
            <a:ext cx="2276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/ SQ.FT.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91472" y="3657600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₹74,323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 42 also tops the ranking for average price per square foot — more on that next.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Ways to Read “Premium”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average ticket size vs. highest price per square foot point to different localities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AVERAGE PRICE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526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₹58.33 Cr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526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Baliawas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4023360"/>
            <a:ext cx="45262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06240"/>
            <a:ext cx="4526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listing price across all Baliawas properties in the dataset — the highest of any locality tracked.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4884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RATE PER SQ.FT.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526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₹55,989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4526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 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4023360"/>
            <a:ext cx="45262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206240"/>
            <a:ext cx="4526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price per square foot in Sector 42, driven by ultra-luxury developments like DLF Camellias.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Ready-to-Move vs. Under-Construction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Move-in-ready homes carry a modest premium over under-construction listings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92024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148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THE GAP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15200" y="251460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~5% premium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0" y="2999232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ready-to-move homes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3520440"/>
            <a:ext cx="40233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gap is real but narrow — buyers aren't paying dramatically more just to avoid construction risk, likely because location and unit size vary across both groups.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RERA Approval Command a Premium?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in this dataset — non-approved listings average slightly higher, not lower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92024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148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CLEAR PREMIUM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15200" y="260604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RERA status alone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297180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doesn't explain price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0" y="3520440"/>
            <a:ext cx="40233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under-construction and lower-end listings simply aren't RERA-registered yet, while several ultra-luxury properties (like the top listing in Sector 42) are also unapproved — pulling that average up.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Bigger Homes Cost More — Per Square Foot Too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price and average rate per sq.ft. both climb as unit size increases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82880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Configuration &amp; Property Type Premiums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average rate per sq.ft., by BHK count and by property 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BY BHK COUNT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526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“114 BHK”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526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₹33,347 / sq.ft. average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840480"/>
            <a:ext cx="45262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23360"/>
            <a:ext cx="45262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result is almost certainly a data-entry error, not a real 114-bedroom home — a handful of BHK values in the raw data (39, 95, 99, 114, 132...) look mistyped. Worth excluding before trusting this ranking.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400800" y="214884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BY PROPERTY TYPE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526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Villas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0" y="3337560"/>
            <a:ext cx="4526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₹17,740 / sq.ft. average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840480"/>
            <a:ext cx="4526280" cy="0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23360"/>
            <a:ext cx="45262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Villas command the highest per-square-foot rate among the reliable property types (apartment, floor, plot, villa), consistent with low-density, land-heavy construction.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Builders Price the Highest?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 by average rate per sq.ft. — several names show signs of inconsistent data entry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301240" y="1874520"/>
          <a:ext cx="75895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data says about the NCR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28016" cy="128016"/>
          </a:xfrm>
          <a:prstGeom prst="ellipse">
            <a:avLst/>
          </a:prstGeom>
          <a:solidFill>
            <a:srgbClr val="C9A24B"/>
          </a:solidFill>
        </p:spPr>
      </p:sp>
      <p:sp>
        <p:nvSpPr>
          <p:cNvPr id="5" name="Text 3"/>
          <p:cNvSpPr/>
          <p:nvPr/>
        </p:nvSpPr>
        <p:spPr>
          <a:xfrm>
            <a:off x="1188720" y="1737360"/>
            <a:ext cx="10149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 42 leads on both absolute price and price per sq.ft., anchored by ultra-luxury projects like DLF Camellias.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128016" cy="128016"/>
          </a:xfrm>
          <a:prstGeom prst="ellipse">
            <a:avLst/>
          </a:prstGeom>
          <a:solidFill>
            <a:srgbClr val="C9A24B"/>
          </a:solidFill>
        </p:spPr>
      </p:sp>
      <p:sp>
        <p:nvSpPr>
          <p:cNvPr id="7" name="Text 5"/>
          <p:cNvSpPr/>
          <p:nvPr/>
        </p:nvSpPr>
        <p:spPr>
          <a:xfrm>
            <a:off x="1188720" y="2578608"/>
            <a:ext cx="10149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Ready-to-move homes carry only a small (~5%) premium over under-construction units — not the gap many buyers assume.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02736"/>
            <a:ext cx="128016" cy="128016"/>
          </a:xfrm>
          <a:prstGeom prst="ellipse">
            <a:avLst/>
          </a:prstGeom>
          <a:solidFill>
            <a:srgbClr val="C9A24B"/>
          </a:solidFill>
        </p:spPr>
      </p:sp>
      <p:sp>
        <p:nvSpPr>
          <p:cNvPr id="9" name="Text 7"/>
          <p:cNvSpPr/>
          <p:nvPr/>
        </p:nvSpPr>
        <p:spPr>
          <a:xfrm>
            <a:off x="1188720" y="3419856"/>
            <a:ext cx="10149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RERA approval shows no clear price premium in this dataset; unapproved listings actually average slightly higher.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C9A24B"/>
          </a:solidFill>
        </p:spPr>
      </p:sp>
      <p:sp>
        <p:nvSpPr>
          <p:cNvPr id="11" name="Text 9"/>
          <p:cNvSpPr/>
          <p:nvPr/>
        </p:nvSpPr>
        <p:spPr>
          <a:xfrm>
            <a:off x="1188720" y="4261104"/>
            <a:ext cx="10149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and rate per sq.ft. both rise steadily with unit size — larger homes aren't just pricier in total, but per square foot too.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285232"/>
            <a:ext cx="128016" cy="128016"/>
          </a:xfrm>
          <a:prstGeom prst="ellipse">
            <a:avLst/>
          </a:prstGeom>
          <a:solidFill>
            <a:srgbClr val="C9A24B"/>
          </a:solidFill>
        </p:spPr>
      </p:sp>
      <p:sp>
        <p:nvSpPr>
          <p:cNvPr id="13" name="Text 11"/>
          <p:cNvSpPr/>
          <p:nvPr/>
        </p:nvSpPr>
        <p:spPr>
          <a:xfrm>
            <a:off x="1188720" y="5102352"/>
            <a:ext cx="10149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A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Villas command the highest rate per sq.ft. among property types; several “top” BHK and builder results need a data-cleaning pass before they're reported as fact.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Delhi-NCR Real Estate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3857</Words>
  <Application>WPS Presentation</Application>
  <PresentationFormat>On-screen Show (16:9)</PresentationFormat>
  <Paragraphs>200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2</cp:revision>
  <dcterms:created xsi:type="dcterms:W3CDTF">2026-07-31T07:20:00Z</dcterms:created>
  <dcterms:modified xsi:type="dcterms:W3CDTF">2026-08-12T11:55:12Z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54BB49B7E6F944938D09775BFEE5C40D_12</vt:lpwstr>
  </property>
  <property fmtid="{D5CDD505-2E9C-101B-9397-08002B2CF9AE}" pid="3" name="KSOProductBuildVer">
    <vt:lpwstr>2057-12.2.0.23206</vt:lpwstr>
  </property>
</Properties>
</file>